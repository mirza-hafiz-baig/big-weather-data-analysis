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81" r:id="rId2"/>
    <p:sldId id="282" r:id="rId3"/>
    <p:sldId id="283" r:id="rId4"/>
    <p:sldId id="284" r:id="rId5"/>
    <p:sldId id="285" r:id="rId6"/>
    <p:sldId id="287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9557D-884D-4114-A76D-D1DA85513CEB}" v="8" dt="2026-09-15T17:06:14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09" autoAdjust="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Baig" userId="699f966251555455" providerId="LiveId" clId="{8197DEDB-11C7-4D36-93FC-EFFFFC798F90}"/>
    <pc:docChg chg="custSel modSld">
      <pc:chgData name="Hafiz Baig" userId="699f966251555455" providerId="LiveId" clId="{8197DEDB-11C7-4D36-93FC-EFFFFC798F90}" dt="2026-10-04T12:53:37.691" v="46" actId="255"/>
      <pc:docMkLst>
        <pc:docMk/>
      </pc:docMkLst>
      <pc:sldChg chg="modSp mod">
        <pc:chgData name="Hafiz Baig" userId="699f966251555455" providerId="LiveId" clId="{8197DEDB-11C7-4D36-93FC-EFFFFC798F90}" dt="2026-10-04T12:53:37.691" v="46" actId="255"/>
        <pc:sldMkLst>
          <pc:docMk/>
          <pc:sldMk cId="0" sldId="281"/>
        </pc:sldMkLst>
        <pc:spChg chg="mod">
          <ac:chgData name="Hafiz Baig" userId="699f966251555455" providerId="LiveId" clId="{8197DEDB-11C7-4D36-93FC-EFFFFC798F90}" dt="2026-10-04T12:53:37.691" v="46" actId="255"/>
          <ac:spMkLst>
            <pc:docMk/>
            <pc:sldMk cId="0" sldId="281"/>
            <ac:spMk id="60" creationId="{00000000-0000-0000-0000-000000000000}"/>
          </ac:spMkLst>
        </pc:spChg>
      </pc:sldChg>
      <pc:sldChg chg="modSp mod">
        <pc:chgData name="Hafiz Baig" userId="699f966251555455" providerId="LiveId" clId="{8197DEDB-11C7-4D36-93FC-EFFFFC798F90}" dt="2026-09-20T19:26:16.640" v="34" actId="1076"/>
        <pc:sldMkLst>
          <pc:docMk/>
          <pc:sldMk cId="0" sldId="282"/>
        </pc:sldMkLst>
        <pc:spChg chg="mod">
          <ac:chgData name="Hafiz Baig" userId="699f966251555455" providerId="LiveId" clId="{8197DEDB-11C7-4D36-93FC-EFFFFC798F90}" dt="2026-09-15T17:06:22.575" v="16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Hafiz Baig" userId="699f966251555455" providerId="LiveId" clId="{8197DEDB-11C7-4D36-93FC-EFFFFC798F90}" dt="2026-09-20T19:26:16.640" v="34" actId="1076"/>
          <ac:spMkLst>
            <pc:docMk/>
            <pc:sldMk cId="0" sldId="282"/>
            <ac:spMk id="9" creationId="{00000000-0000-0000-0000-000000000000}"/>
          </ac:spMkLst>
        </pc:spChg>
      </pc:sldChg>
      <pc:sldChg chg="delSp modSp mod">
        <pc:chgData name="Hafiz Baig" userId="699f966251555455" providerId="LiveId" clId="{8197DEDB-11C7-4D36-93FC-EFFFFC798F90}" dt="2026-09-15T17:07:53.940" v="19" actId="21"/>
        <pc:sldMkLst>
          <pc:docMk/>
          <pc:sldMk cId="0" sldId="283"/>
        </pc:sldMkLst>
        <pc:spChg chg="mod">
          <ac:chgData name="Hafiz Baig" userId="699f966251555455" providerId="LiveId" clId="{8197DEDB-11C7-4D36-93FC-EFFFFC798F90}" dt="2026-09-15T17:06:07.204" v="12" actId="14100"/>
          <ac:spMkLst>
            <pc:docMk/>
            <pc:sldMk cId="0" sldId="283"/>
            <ac:spMk id="7" creationId="{00000000-0000-0000-0000-000000000000}"/>
          </ac:spMkLst>
        </pc:spChg>
      </pc:sldChg>
      <pc:sldChg chg="modSp mod">
        <pc:chgData name="Hafiz Baig" userId="699f966251555455" providerId="LiveId" clId="{8197DEDB-11C7-4D36-93FC-EFFFFC798F90}" dt="2026-09-15T17:05:57.199" v="9" actId="1076"/>
        <pc:sldMkLst>
          <pc:docMk/>
          <pc:sldMk cId="3753387913" sldId="284"/>
        </pc:sldMkLst>
        <pc:spChg chg="mod">
          <ac:chgData name="Hafiz Baig" userId="699f966251555455" providerId="LiveId" clId="{8197DEDB-11C7-4D36-93FC-EFFFFC798F90}" dt="2026-09-15T17:05:57.199" v="9" actId="1076"/>
          <ac:spMkLst>
            <pc:docMk/>
            <pc:sldMk cId="3753387913" sldId="284"/>
            <ac:spMk id="6" creationId="{00000000-0000-0000-0000-000000000000}"/>
          </ac:spMkLst>
        </pc:spChg>
      </pc:sldChg>
      <pc:sldChg chg="modSp mod">
        <pc:chgData name="Hafiz Baig" userId="699f966251555455" providerId="LiveId" clId="{8197DEDB-11C7-4D36-93FC-EFFFFC798F90}" dt="2026-09-15T17:05:42.969" v="4"/>
        <pc:sldMkLst>
          <pc:docMk/>
          <pc:sldMk cId="2997144140" sldId="285"/>
        </pc:sldMkLst>
        <pc:spChg chg="mod">
          <ac:chgData name="Hafiz Baig" userId="699f966251555455" providerId="LiveId" clId="{8197DEDB-11C7-4D36-93FC-EFFFFC798F90}" dt="2026-09-15T17:05:42.969" v="4"/>
          <ac:spMkLst>
            <pc:docMk/>
            <pc:sldMk cId="2997144140" sldId="285"/>
            <ac:spMk id="17448" creationId="{00000000-0000-0000-0000-000000000000}"/>
          </ac:spMkLst>
        </pc:spChg>
      </pc:sldChg>
      <pc:sldChg chg="modSp mod">
        <pc:chgData name="Hafiz Baig" userId="699f966251555455" providerId="LiveId" clId="{8197DEDB-11C7-4D36-93FC-EFFFFC798F90}" dt="2026-09-15T17:19:29.839" v="32" actId="14100"/>
        <pc:sldMkLst>
          <pc:docMk/>
          <pc:sldMk cId="174078403" sldId="287"/>
        </pc:sldMkLst>
        <pc:spChg chg="mod">
          <ac:chgData name="Hafiz Baig" userId="699f966251555455" providerId="LiveId" clId="{8197DEDB-11C7-4D36-93FC-EFFFFC798F90}" dt="2026-09-15T17:05:32.941" v="3" actId="1076"/>
          <ac:spMkLst>
            <pc:docMk/>
            <pc:sldMk cId="174078403" sldId="287"/>
            <ac:spMk id="7" creationId="{00000000-0000-0000-0000-000000000000}"/>
          </ac:spMkLst>
        </pc:spChg>
        <pc:picChg chg="mod modCrop">
          <ac:chgData name="Hafiz Baig" userId="699f966251555455" providerId="LiveId" clId="{8197DEDB-11C7-4D36-93FC-EFFFFC798F90}" dt="2026-09-15T17:19:29.839" v="32" actId="14100"/>
          <ac:picMkLst>
            <pc:docMk/>
            <pc:sldMk cId="174078403" sldId="287"/>
            <ac:picMk id="51" creationId="{4C48E1FF-2E31-87BF-94D0-FAD275F53F68}"/>
          </ac:picMkLst>
        </pc:picChg>
        <pc:picChg chg="mod modCrop">
          <ac:chgData name="Hafiz Baig" userId="699f966251555455" providerId="LiveId" clId="{8197DEDB-11C7-4D36-93FC-EFFFFC798F90}" dt="2026-09-15T17:19:27.416" v="31" actId="1076"/>
          <ac:picMkLst>
            <pc:docMk/>
            <pc:sldMk cId="174078403" sldId="287"/>
            <ac:picMk id="54" creationId="{7F9C5189-0B39-E35D-D9CC-279E2C118C7B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427455896371166"/>
          <c:y val="3.4972022382094327E-2"/>
          <c:w val="0.52511621681618159"/>
          <c:h val="0.6327839303360460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Stakeholders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12D-482D-9AC9-411745872BD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12D-482D-9AC9-411745872BD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12D-482D-9AC9-411745872BD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12D-482D-9AC9-411745872BD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12D-482D-9AC9-411745872BD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IMD / MoES</c:v>
                </c:pt>
                <c:pt idx="1">
                  <c:v>NDMA / SDMA</c:v>
                </c:pt>
                <c:pt idx="2">
                  <c:v>State Disaster Cells</c:v>
                </c:pt>
                <c:pt idx="3">
                  <c:v>Citizens &amp; Public</c:v>
                </c:pt>
                <c:pt idx="4">
                  <c:v>Researchers &amp; Media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12D-482D-9AC9-411745872BD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x val="0.71048761309899555"/>
          <c:y val="0.10371859992321104"/>
          <c:w val="0.28779749050356046"/>
          <c:h val="0.80842188751814281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20553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CropX Protocol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0" name="Title Details"/>
          <p:cNvSpPr txBox="1">
            <a:spLocks noChangeArrowheads="1"/>
          </p:cNvSpPr>
          <p:nvPr/>
        </p:nvSpPr>
        <p:spPr bwMode="auto">
          <a:xfrm>
            <a:off x="633045" y="2076450"/>
            <a:ext cx="5572370" cy="5003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27432" rIns="45720" bIns="27432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Problem Statement ID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b="1" i="0" dirty="0">
                <a:latin typeface="Arial" pitchFamily="34" charset="0"/>
                <a:cs typeface="Arial" pitchFamily="34" charset="0"/>
              </a:rPr>
              <a:t>SIH26069</a:t>
            </a:r>
          </a:p>
          <a:p>
            <a:pPr marL="0" indent="0" algn="l">
              <a:spcBef>
                <a:spcPts val="38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Problem Statement Title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b="1" i="0" dirty="0">
                <a:latin typeface="Arial" pitchFamily="34" charset="0"/>
                <a:cs typeface="Arial" pitchFamily="34" charset="0"/>
              </a:rPr>
              <a:t>National Weather Big Data Analytics Platform</a:t>
            </a:r>
          </a:p>
          <a:p>
            <a:pPr marL="0" indent="0" algn="l">
              <a:spcBef>
                <a:spcPts val="38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Theme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b="1" i="0" dirty="0">
                <a:latin typeface="Arial" pitchFamily="34" charset="0"/>
                <a:cs typeface="Arial" pitchFamily="34" charset="0"/>
              </a:rPr>
              <a:t>Disaster Management</a:t>
            </a:r>
          </a:p>
          <a:p>
            <a:pPr marL="0" indent="0" algn="l">
              <a:spcBef>
                <a:spcPts val="38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PS Category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b="1" i="0" dirty="0">
                <a:latin typeface="Arial" pitchFamily="34" charset="0"/>
                <a:cs typeface="Arial" pitchFamily="34" charset="0"/>
              </a:rPr>
              <a:t>Software</a:t>
            </a:r>
          </a:p>
          <a:p>
            <a:pPr marL="0" indent="0" algn="l">
              <a:spcBef>
                <a:spcPts val="38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Team Name (Registered on portal)</a:t>
            </a:r>
          </a:p>
          <a:p>
            <a:pPr marL="0" indent="0" algn="l">
              <a:spcBef>
                <a:spcPts val="380"/>
              </a:spcBef>
              <a:buNone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CropX Protocol</a:t>
            </a:r>
            <a:endParaRPr lang="en-US" b="1" i="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0" indent="0" algn="l">
              <a:spcBef>
                <a:spcPts val="380"/>
              </a:spcBef>
              <a:buNone/>
            </a:pPr>
            <a:r>
              <a:rPr lang="en-US" b="1" i="0" dirty="0">
                <a:solidFill>
                  <a:srgbClr val="1B2A6B"/>
                </a:solidFill>
                <a:latin typeface="Arial" pitchFamily="34" charset="0"/>
                <a:cs typeface="Arial" pitchFamily="34" charset="0"/>
              </a:rPr>
              <a:t>Team ID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160120</a:t>
            </a:r>
            <a:endParaRPr lang="en-US" b="1" i="0" dirty="0">
              <a:latin typeface="Arial" pitchFamily="34" charset="0"/>
              <a:cs typeface="Arial" pitchFamily="34" charset="0"/>
            </a:endParaRP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b="0" i="1" dirty="0">
                <a:solidFill>
                  <a:srgbClr val="4E5D78"/>
                </a:solidFill>
                <a:latin typeface="Arial" pitchFamily="34" charset="0"/>
                <a:cs typeface="Arial" pitchFamily="34" charset="0"/>
              </a:rPr>
              <a:t>Turning millions of scattered social posts, citizen reports and open datasets into one verified, geotagged national weather-event feed — in minutes instead of hours.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8096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6446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@SIH Idea submission —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94560" cy="1036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" y="164591"/>
            <a:ext cx="1508760" cy="56692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CropX Protocol</a:t>
            </a:r>
          </a:p>
          <a:p>
            <a:pPr algn="ctr">
              <a:lnSpc>
                <a:spcPct val="95000"/>
              </a:lnSpc>
            </a:pP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7944" y="84757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50" b="0" i="0" dirty="0">
                <a:solidFill>
                  <a:srgbClr val="4E5D78"/>
                </a:solidFill>
                <a:latin typeface="Calibri"/>
              </a:rPr>
              <a:t>One verified national weather-event feed, built on a real-time big data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70432"/>
            <a:ext cx="3657600" cy="193852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316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0E6E8C"/>
                </a:solidFill>
                <a:latin typeface="Arial"/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45920"/>
            <a:ext cx="329184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A real-time Big Data pipeline that continuously mines social media, open government datasets, weather APIs and first-party citizen reports.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Every incoming report is de-duplicated, trust-scored, classified by event type and geotagged within minutes of being posted.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Output is a single live, queryable event feed — not another dashboard of raw, unverified chatter.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170432"/>
            <a:ext cx="3657600" cy="1938528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54296" y="1316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A8465A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645920"/>
            <a:ext cx="329184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IMD radar and station networks cover regions well, but street-level events — a flooded underpass, a collapsed tree — stay invisible.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PrakritiPulse layers hyperlocal citizen signals on top of official data instead of competing with it.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Responders get one verified national feed rather than thousands of scattered, unverifiable posts.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1170432"/>
            <a:ext cx="3657600" cy="1938528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21624" y="13167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F7A5C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5" y="1645920"/>
            <a:ext cx="3291840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Multi-signal trust scoring combines source history, corroboration count and IMD cross-check.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MinHash/LSH collapses near-duplicate posts so one event isn't counted a thousand times.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 i="0">
                <a:solidFill>
                  <a:srgbClr val="2B3852"/>
                </a:solidFill>
                <a:latin typeface="Calibri"/>
              </a:rPr>
              <a:t>•  Map-based human verification queue keeps a person in the loop, with a full Delta audit trail.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18688"/>
            <a:ext cx="11192256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3374136"/>
            <a:ext cx="365760" cy="365760"/>
          </a:xfrm>
          <a:prstGeom prst="ellipse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3447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0E1B3D"/>
                </a:solidFill>
                <a:latin typeface="Calibri"/>
              </a:rPr>
              <a:t>SOCIAL / CITIZEN POSTS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520440"/>
            <a:ext cx="274320" cy="6400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5304" y="3374136"/>
            <a:ext cx="365760" cy="365760"/>
          </a:xfrm>
          <a:prstGeom prst="ellipse">
            <a:avLst/>
          </a:prstGeom>
          <a:solidFill>
            <a:srgbClr val="4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0791" y="3447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0E1B3D"/>
                </a:solidFill>
                <a:latin typeface="Calibri"/>
              </a:rPr>
              <a:t>INGESTION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2744" y="3520440"/>
            <a:ext cx="274320" cy="6400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73368" y="3374136"/>
            <a:ext cx="365760" cy="365760"/>
          </a:xfrm>
          <a:prstGeom prst="ellipse">
            <a:avLst/>
          </a:prstGeom>
          <a:solidFill>
            <a:srgbClr val="A8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6" y="3447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0E1B3D"/>
                </a:solidFill>
                <a:latin typeface="Calibri"/>
              </a:rPr>
              <a:t>AI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50808" y="3520440"/>
            <a:ext cx="274320" cy="64008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71432" y="3374136"/>
            <a:ext cx="365760" cy="365760"/>
          </a:xfrm>
          <a:prstGeom prst="ellipse">
            <a:avLst/>
          </a:prstGeom>
          <a:solidFill>
            <a:srgbClr val="3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447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0E1B3D"/>
                </a:solidFill>
                <a:latin typeface="Calibri"/>
              </a:rPr>
              <a:t>LIVE MAP + ADMIN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005072"/>
            <a:ext cx="2715768" cy="17373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" y="415137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0E6E8C"/>
                </a:solidFill>
                <a:latin typeface="Arial"/>
              </a:rPr>
              <a:t>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62272"/>
            <a:ext cx="2350008" cy="1170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X/Twitter API v2, Meta Graph, RSS news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IMD bulletins + data.gov.in datasets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First-party citizen report app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WhatsApp / SMS fallback channel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4005072"/>
            <a:ext cx="2715768" cy="1737360"/>
          </a:xfrm>
          <a:prstGeom prst="roundRect">
            <a:avLst>
              <a:gd name="adj" fmla="val 12000"/>
            </a:avLst>
          </a:prstGeom>
          <a:solidFill>
            <a:srgbClr val="ECEDF2"/>
          </a:solidFill>
          <a:ln w="1270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21608" y="415137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4A5578"/>
                </a:solidFill>
                <a:latin typeface="Arial"/>
              </a:rPr>
              <a:t>INGESTION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462272"/>
            <a:ext cx="2350008" cy="1170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Apache Kafka streaming bus, partitioned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Spark Structured Streaming consumers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Raw landing zone in Delta Lake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Backpressure + rate control on spikes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005072"/>
            <a:ext cx="2715768" cy="1737360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56248" y="415137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A8465A"/>
                </a:solidFill>
                <a:latin typeface="Arial"/>
              </a:rPr>
              <a:t>VERIFICATION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462272"/>
            <a:ext cx="2350008" cy="1170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Fake / spam trust scoring via MLflow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MinHash-LSH near-duplicate collapse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NLP event class + spaCy geotagging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Human review queue for low-confidence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06840" y="4005072"/>
            <a:ext cx="2715768" cy="1737360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90888" y="4151376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3F7A5C"/>
                </a:solidFill>
                <a:latin typeface="Arial"/>
              </a:rPr>
              <a:t>SERVING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19" y="4462272"/>
            <a:ext cx="2350008" cy="1170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PostgreSQL + PostGIS spatial store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Redis cache for hot map queries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REST &amp; WebSocket live APIs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Leaflet map, admin queue, alert feed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833872"/>
            <a:ext cx="11192256" cy="420624"/>
          </a:xfrm>
          <a:prstGeom prst="roundRect">
            <a:avLst>
              <a:gd name="adj" fmla="val 12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9161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50" b="1" i="0" spc="50">
                <a:solidFill>
                  <a:srgbClr val="FFFFFF"/>
                </a:solidFill>
                <a:latin typeface="Calibri"/>
              </a:rPr>
              <a:t>HOURS → MINUTES   |   GEOTAGGED   |   VERIFIED   |   DE-DUPLICATED   |   QUERYABLE EVIDENCE FOR DISASTER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8096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6446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@SIH Idea submission —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94560" cy="1036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46304"/>
            <a:ext cx="1508760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CropX Protocol</a:t>
            </a:r>
          </a:p>
          <a:p>
            <a:pPr algn="ctr">
              <a:lnSpc>
                <a:spcPct val="95000"/>
              </a:lnSpc>
            </a:pP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229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4E5D78"/>
                </a:solidFill>
                <a:latin typeface="Calibri"/>
              </a:rPr>
              <a:t>System architecture — a medallion Lakehouse on Databricks, end to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52144"/>
            <a:ext cx="11192256" cy="2889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 spc="100">
                <a:solidFill>
                  <a:srgbClr val="0E1B3D"/>
                </a:solidFill>
                <a:latin typeface="Arial"/>
              </a:rPr>
              <a:t>ARCHITECTURE — SOURCE TO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609344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DATA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93392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EF3F5"/>
          </a:solidFill>
          <a:ln w="9525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X / Twitter API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22576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EF3F5"/>
          </a:solidFill>
          <a:ln w="9525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Meta Graph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EF3F5"/>
          </a:solidFill>
          <a:ln w="9525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IMD + data.gov.in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80944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EF3F5"/>
          </a:solidFill>
          <a:ln w="9525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Citizen app / SMS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10127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EF3F5"/>
          </a:solidFill>
          <a:ln w="9525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RSS &amp; news feeds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2432304"/>
            <a:ext cx="137159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0E6E8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1609344"/>
            <a:ext cx="2011680" cy="274320"/>
          </a:xfrm>
          <a:prstGeom prst="roundRect">
            <a:avLst>
              <a:gd name="adj" fmla="val 30000"/>
            </a:avLst>
          </a:prstGeom>
          <a:solidFill>
            <a:srgbClr val="4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INGESTION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1993392"/>
            <a:ext cx="2011680" cy="274320"/>
          </a:xfrm>
          <a:prstGeom prst="roundRect">
            <a:avLst>
              <a:gd name="adj" fmla="val 18000"/>
            </a:avLst>
          </a:prstGeom>
          <a:solidFill>
            <a:srgbClr val="ECEDF2"/>
          </a:solidFill>
          <a:ln w="9525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Apache Kafka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44368" y="2322576"/>
            <a:ext cx="2011680" cy="402336"/>
          </a:xfrm>
          <a:prstGeom prst="roundRect">
            <a:avLst>
              <a:gd name="adj" fmla="val 18000"/>
            </a:avLst>
          </a:prstGeom>
          <a:solidFill>
            <a:srgbClr val="ECEDF2"/>
          </a:solidFill>
          <a:ln w="9525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Spark Structured
Streaming consumers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2779776"/>
            <a:ext cx="2011680" cy="402336"/>
          </a:xfrm>
          <a:prstGeom prst="roundRect">
            <a:avLst>
              <a:gd name="adj" fmla="val 18000"/>
            </a:avLst>
          </a:prstGeom>
          <a:solidFill>
            <a:srgbClr val="ECEDF2"/>
          </a:solidFill>
          <a:ln w="9525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Schema check +
backpressure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0912" y="2432304"/>
            <a:ext cx="137160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4A557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2936" y="1609344"/>
            <a:ext cx="2240280" cy="274320"/>
          </a:xfrm>
          <a:prstGeom prst="roundRect">
            <a:avLst>
              <a:gd name="adj" fmla="val 30000"/>
            </a:avLst>
          </a:prstGeom>
          <a:solidFill>
            <a:srgbClr val="A8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LAKEHOUSE (DATABRICKS)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02936" y="1993392"/>
            <a:ext cx="2240280" cy="402336"/>
          </a:xfrm>
          <a:prstGeom prst="roundRect">
            <a:avLst>
              <a:gd name="adj" fmla="val 18000"/>
            </a:avLst>
          </a:prstGeom>
          <a:solidFill>
            <a:srgbClr val="F3EAEC"/>
          </a:solidFill>
          <a:ln w="9525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BRONZE — raw posts + media
metadata in Delta Lake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450592"/>
            <a:ext cx="2240280" cy="402336"/>
          </a:xfrm>
          <a:prstGeom prst="roundRect">
            <a:avLst>
              <a:gd name="adj" fmla="val 18000"/>
            </a:avLst>
          </a:prstGeom>
          <a:solidFill>
            <a:srgbClr val="F3EAEC"/>
          </a:solidFill>
          <a:ln w="9525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SILVER — trust score, LSH
de-dupe, NER geotag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2907792"/>
            <a:ext cx="2240280" cy="402336"/>
          </a:xfrm>
          <a:prstGeom prst="roundRect">
            <a:avLst>
              <a:gd name="adj" fmla="val 18000"/>
            </a:avLst>
          </a:prstGeom>
          <a:solidFill>
            <a:srgbClr val="F3EAEC"/>
          </a:solidFill>
          <a:ln w="9525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GOLD — Delta Live Tables,
curated event 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2432304"/>
            <a:ext cx="128015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A8465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609344"/>
            <a:ext cx="1783080" cy="274320"/>
          </a:xfrm>
          <a:prstGeom prst="roundRect">
            <a:avLst>
              <a:gd name="adj" fmla="val 30000"/>
            </a:avLst>
          </a:prstGeom>
          <a:solidFill>
            <a:srgbClr val="B87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SERVING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993392"/>
            <a:ext cx="1783080" cy="274320"/>
          </a:xfrm>
          <a:prstGeom prst="roundRect">
            <a:avLst>
              <a:gd name="adj" fmla="val 18000"/>
            </a:avLst>
          </a:prstGeom>
          <a:solidFill>
            <a:srgbClr val="F4EEE3"/>
          </a:solidFill>
          <a:ln w="9525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PostgreSQL + PostGIS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2322576"/>
            <a:ext cx="1783080" cy="274320"/>
          </a:xfrm>
          <a:prstGeom prst="roundRect">
            <a:avLst>
              <a:gd name="adj" fmla="val 18000"/>
            </a:avLst>
          </a:prstGeom>
          <a:solidFill>
            <a:srgbClr val="F4EEE3"/>
          </a:solidFill>
          <a:ln w="9525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Redis hot-query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2651760"/>
            <a:ext cx="1783080" cy="274320"/>
          </a:xfrm>
          <a:prstGeom prst="roundRect">
            <a:avLst>
              <a:gd name="adj" fmla="val 18000"/>
            </a:avLst>
          </a:prstGeom>
          <a:solidFill>
            <a:srgbClr val="F4EEE3"/>
          </a:solidFill>
          <a:ln w="9525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REST + WebSocket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8904" y="2432304"/>
            <a:ext cx="137159" cy="27432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B8791E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0928" y="1609344"/>
            <a:ext cx="1828800" cy="274320"/>
          </a:xfrm>
          <a:prstGeom prst="roundRect">
            <a:avLst>
              <a:gd name="adj" fmla="val 30000"/>
            </a:avLst>
          </a:prstGeom>
          <a:solidFill>
            <a:srgbClr val="3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CONSUMERS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0928" y="1993392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EAF0EC"/>
          </a:solidFill>
          <a:ln w="9525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Live Leaflet event 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10928" y="2322576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EAF0EC"/>
          </a:solidFill>
          <a:ln w="9525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Admin verification queue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10928" y="2651760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EAF0EC"/>
          </a:solidFill>
          <a:ln w="9525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Analytics dashboards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2980944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EAF0EC"/>
          </a:solidFill>
          <a:ln w="9525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2B3852"/>
                </a:solidFill>
                <a:latin typeface="Calibri"/>
              </a:rPr>
              <a:t>Alert / webhook feed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3712463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00" b="1" i="0">
                <a:solidFill>
                  <a:srgbClr val="4E5D78"/>
                </a:solidFill>
                <a:latin typeface="Calibri"/>
              </a:rPr>
              <a:t>Cross-cutting:  MLflow model registry &amp; retraining  •  Delta Lake time-travel audit trail  •  OAuth 2.0 + role-based access  •  Docker / Kubernetes on Azure or AWS Databricks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151376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4297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0E6E8C"/>
                </a:solidFill>
                <a:latin typeface="Arial"/>
              </a:rPr>
              <a:t>CORE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590288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Python • SQL • JavaScript / TypeScript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Databricks • Spark Structured Streaming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Delta Lake • Delta Live Tables • MLflow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Apache Kafka • PostgreSQL / PostGIS • Redis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Airflow-style job orchestration in Databricks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70248" y="4151376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4296" y="4297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A8465A"/>
                </a:solidFill>
                <a:latin typeface="Arial"/>
              </a:rPr>
              <a:t>AI / NLP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53128" y="4590288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Transformer misinformation classifier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MinHash / LSH near-duplicate detection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spaCy NER for city, ward &amp; state extraction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Event-type classifier: flood, cyclone, hail, heat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Multilingual (Hindi + regional) text handling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37575" y="4151376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21624" y="429768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3F7A5C"/>
                </a:solidFill>
                <a:latin typeface="Arial"/>
              </a:rPr>
              <a:t>FRONTEND &amp;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0455" y="4590288"/>
            <a:ext cx="329184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React / Flask + Leaflet live map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Plotly &amp; Chart.js analytics dashboards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Azure / AWS Databricks • Docker • Kubernetes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OAuth 2.0 + role-based admin access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CDN-cached tiles and read replicas at peak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870448"/>
            <a:ext cx="11192256" cy="402336"/>
          </a:xfrm>
          <a:prstGeom prst="roundRect">
            <a:avLst>
              <a:gd name="adj" fmla="val 12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5943600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1" i="0" spc="50">
                <a:solidFill>
                  <a:srgbClr val="FFFFFF"/>
                </a:solidFill>
                <a:latin typeface="Calibri"/>
              </a:rPr>
              <a:t>DESIGN TARGETS:   POST → VERIFIED EVENT IN UNDER 2 MIN   |   10K+ POSTS / MIN AT PEAK   |   PROTOTYPE DEMOED WITH LIVE INGESTION + ADMIN QUEUE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5080"/>
            <a:ext cx="12198096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0" y="6446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@SIH Idea submission —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94560" cy="1036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251460"/>
            <a:ext cx="1527048" cy="5760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CropX Protocol</a:t>
            </a:r>
          </a:p>
          <a:p>
            <a:pPr algn="ctr">
              <a:lnSpc>
                <a:spcPct val="95000"/>
              </a:lnSpc>
            </a:pP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0" y="219456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8229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4E5D78"/>
                </a:solidFill>
                <a:latin typeface="Calibri"/>
              </a:rPr>
              <a:t>Can we build it, will people use it, and does it hold up at disaster scale?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715000" cy="1627632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16736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0E6E8C"/>
                </a:solidFill>
                <a:latin typeface="Arial"/>
              </a:rP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27632"/>
            <a:ext cx="534924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Working prototype already built and demoed — simulated live ingestion, event map, filters, admin queue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Every core component is mature and production-proven: Kafka, Databricks/Spark, Delta Lake, PostGIS, Leaflet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Cloud-native and auto-scaling, so monsoon and cyclone spikes cost more only while they last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Managed services keep the ops burden small enough for a lean team to run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•  Open standards throughout — no vendor lock-in on data formats or map tiles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spc="100">
                <a:solidFill>
                  <a:srgbClr val="0E1B3D"/>
                </a:solidFill>
                <a:latin typeface="Arial"/>
              </a:rPr>
              <a:t>KEY CHALLENGES &amp; MITIGATION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81328"/>
            <a:ext cx="2578608" cy="640080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1563624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000" b="1" i="0">
                <a:solidFill>
                  <a:srgbClr val="A8465A"/>
                </a:solidFill>
                <a:latin typeface="Calibri"/>
              </a:rPr>
              <a:t>Data volume &amp;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1764792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Auto-scaling Databricks + Kafka backpressure + pre-filter before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81328"/>
            <a:ext cx="2578608" cy="640080"/>
          </a:xfrm>
          <a:prstGeom prst="roundRect">
            <a:avLst>
              <a:gd name="adj" fmla="val 12000"/>
            </a:avLst>
          </a:prstGeom>
          <a:solidFill>
            <a:srgbClr val="ECEDF2"/>
          </a:solidFill>
          <a:ln w="1270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1563624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000" b="1" i="0">
                <a:solidFill>
                  <a:srgbClr val="4A5578"/>
                </a:solidFill>
                <a:latin typeface="Calibri"/>
              </a:rPr>
              <a:t>API access &amp; 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1764792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Official APIs only, rate-limit aware; first-party app as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157984"/>
            <a:ext cx="2578608" cy="640080"/>
          </a:xfrm>
          <a:prstGeom prst="roundRect">
            <a:avLst>
              <a:gd name="adj" fmla="val 12000"/>
            </a:avLst>
          </a:prstGeom>
          <a:solidFill>
            <a:srgbClr val="F4EEE3"/>
          </a:solidFill>
          <a:ln w="12700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240279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000" b="1" i="0">
                <a:solidFill>
                  <a:srgbClr val="B8791E"/>
                </a:solidFill>
                <a:latin typeface="Calibri"/>
              </a:rPr>
              <a:t>Trust / misinformation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441448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Multi-signal trust score + IMD cross-check + human flags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157984"/>
            <a:ext cx="2578608" cy="640080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2240279"/>
            <a:ext cx="224942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000" b="1" i="0">
                <a:solidFill>
                  <a:srgbClr val="3F7A5C"/>
                </a:solidFill>
                <a:latin typeface="Calibri"/>
              </a:rPr>
              <a:t>Disaster-scale reads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441448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Layered gold tables + auto-scale + CDN-cached map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92608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spc="100">
                <a:solidFill>
                  <a:srgbClr val="0E1B3D"/>
                </a:solidFill>
                <a:latin typeface="Arial"/>
              </a:rPr>
              <a:t>VIABILITY FROM THE CITIZEN'S POINT OF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944368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0" i="1">
                <a:solidFill>
                  <a:srgbClr val="4E5D78"/>
                </a:solidFill>
                <a:latin typeface="Calibri"/>
              </a:rPr>
              <a:t>the people who report events are also the people the platform protects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36976"/>
            <a:ext cx="2761488" cy="1609344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338328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0E6E8C"/>
                </a:solidFill>
                <a:latin typeface="Arial"/>
              </a:rPr>
              <a:t>WHY A CITIZEN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75887"/>
            <a:ext cx="2395728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One tap: photo + auto-location, under 30 seconds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No long forms and no account needed to report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Sees their own report appear on the public map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Reporting a hazard helps their own neighbours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74136" y="3236976"/>
            <a:ext cx="2761488" cy="1609344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58184" y="338328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A8465A"/>
                </a:solidFill>
                <a:latin typeface="Arial"/>
              </a:rPr>
              <a:t>WHAT THE CITIZEN GETS 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57016" y="3675887"/>
            <a:ext cx="2395728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Ward-level alerts, not city-wide ones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Verified badge separates fact from rumour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Waterlogging warnings before commuting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Safer route and school-closure signals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3236976"/>
            <a:ext cx="2761488" cy="1609344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9400" y="338328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3F7A5C"/>
                </a:solidFill>
                <a:latin typeface="Arial"/>
              </a:rPr>
              <a:t>ADOPTION &amp; ACCESSIBILITY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3675887"/>
            <a:ext cx="2395728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Free app + WhatsApp and SMS reporting fallback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Hindi and regional languages, icon-led UI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Works on low-end phones and 2G / patchy networks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Low data usage; offline queue syncs when back online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6568" y="3236976"/>
            <a:ext cx="2761488" cy="1609344"/>
          </a:xfrm>
          <a:prstGeom prst="roundRect">
            <a:avLst>
              <a:gd name="adj" fmla="val 12000"/>
            </a:avLst>
          </a:prstGeom>
          <a:solidFill>
            <a:srgbClr val="ECEDF2"/>
          </a:solidFill>
          <a:ln w="1270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0616" y="338328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4A5578"/>
                </a:solidFill>
                <a:latin typeface="Arial"/>
              </a:rPr>
              <a:t>TRUST, PRIVACY &amp; RETENTION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3675887"/>
            <a:ext cx="2395728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Anonymous reporting; no personal data resold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Contributor score and civic badges for regulars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Public audit trail of what was verified and why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Visible outcomes keep people coming back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974336"/>
            <a:ext cx="7680960" cy="1207008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507492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 spc="100">
                <a:solidFill>
                  <a:srgbClr val="0E1B3D"/>
                </a:solidFill>
                <a:latin typeface="Arial"/>
              </a:rPr>
              <a:t>12-MONTH ROLLOUT</a:t>
            </a:r>
          </a:p>
        </p:txBody>
      </p:sp>
      <p:sp>
        <p:nvSpPr>
          <p:cNvPr id="46" name="Oval 45"/>
          <p:cNvSpPr/>
          <p:nvPr/>
        </p:nvSpPr>
        <p:spPr>
          <a:xfrm>
            <a:off x="713232" y="5376672"/>
            <a:ext cx="292608" cy="292608"/>
          </a:xfrm>
          <a:prstGeom prst="ellipse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37667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50" b="1" i="0">
                <a:solidFill>
                  <a:srgbClr val="0E6E8C"/>
                </a:solidFill>
                <a:latin typeface="Calibri"/>
              </a:rPr>
              <a:t>MONTHS 1–2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56869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Pilot in 2 metros with college &amp; RWA volunteers; tune trust model</a:t>
            </a:r>
          </a:p>
        </p:txBody>
      </p:sp>
      <p:sp>
        <p:nvSpPr>
          <p:cNvPr id="49" name="Oval 48"/>
          <p:cNvSpPr/>
          <p:nvPr/>
        </p:nvSpPr>
        <p:spPr>
          <a:xfrm>
            <a:off x="3200400" y="5376672"/>
            <a:ext cx="292608" cy="292608"/>
          </a:xfrm>
          <a:prstGeom prst="ellipse">
            <a:avLst/>
          </a:prstGeom>
          <a:solidFill>
            <a:srgbClr val="B87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537667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50" b="1" i="0">
                <a:solidFill>
                  <a:srgbClr val="B8791E"/>
                </a:solidFill>
                <a:latin typeface="Calibri"/>
              </a:rPr>
              <a:t>MONTHS 3–5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84448" y="556869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IMD regional pilot + civic-body dashboards; add languages</a:t>
            </a:r>
          </a:p>
        </p:txBody>
      </p:sp>
      <p:sp>
        <p:nvSpPr>
          <p:cNvPr id="52" name="Oval 51"/>
          <p:cNvSpPr/>
          <p:nvPr/>
        </p:nvSpPr>
        <p:spPr>
          <a:xfrm>
            <a:off x="5687568" y="5376672"/>
            <a:ext cx="292608" cy="292608"/>
          </a:xfrm>
          <a:prstGeom prst="ellipse">
            <a:avLst/>
          </a:prstGeom>
          <a:solidFill>
            <a:srgbClr val="3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71616" y="537667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50" b="1" i="0">
                <a:solidFill>
                  <a:srgbClr val="3F7A5C"/>
                </a:solidFill>
                <a:latin typeface="Calibri"/>
              </a:rPr>
              <a:t>MONTHS 6–12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71616" y="556869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Pan-India scale, open API for state disaster cells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66760" y="4974336"/>
            <a:ext cx="3328416" cy="1207008"/>
          </a:xfrm>
          <a:prstGeom prst="roundRect">
            <a:avLst>
              <a:gd name="adj" fmla="val 12000"/>
            </a:avLst>
          </a:prstGeom>
          <a:solidFill>
            <a:srgbClr val="F4EEE3"/>
          </a:solidFill>
          <a:ln w="12700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50808" y="5120640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00" b="1" i="0">
                <a:solidFill>
                  <a:srgbClr val="B8791E"/>
                </a:solidFill>
                <a:latin typeface="Arial"/>
              </a:rPr>
              <a:t>DEMAND &amp; COST SIGNAL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394960"/>
            <a:ext cx="2962656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Citizens already post weather events — we only structure what they share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Zero cost to the user; value shows on the first alert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Serverless spend tracks the season, not a fixed year-round bill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3" name="Rectangle 17442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4" name="Rectangle 17443"/>
          <p:cNvSpPr/>
          <p:nvPr/>
        </p:nvSpPr>
        <p:spPr>
          <a:xfrm>
            <a:off x="0" y="6355080"/>
            <a:ext cx="12198096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4023360" y="6446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@SIH Idea submission — Template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17447" name="Picture 174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94560" cy="1036230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502920" y="292608"/>
            <a:ext cx="150876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A5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lang="en-US" sz="1100" b="1">
                <a:solidFill>
                  <a:srgbClr val="000000"/>
                </a:solidFill>
                <a:latin typeface="Arial"/>
              </a:rPr>
              <a:t>CropX Protocol</a:t>
            </a:r>
            <a:endParaRPr lang="en-US"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9" name="TextBox 17448"/>
          <p:cNvSpPr txBox="1"/>
          <p:nvPr/>
        </p:nvSpPr>
        <p:spPr>
          <a:xfrm>
            <a:off x="2011680" y="219456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828800" y="8229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4E5D78"/>
                </a:solidFill>
                <a:latin typeface="Calibri"/>
              </a:rPr>
              <a:t>What changes for responders, institutions and ordinary citizens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502920" y="117043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722376" y="1261872"/>
            <a:ext cx="32186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400" b="1" i="0">
                <a:solidFill>
                  <a:srgbClr val="0E6E8C"/>
                </a:solidFill>
                <a:latin typeface="Arial"/>
              </a:rPr>
              <a:t>HOURS → MINUTES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22376" y="153619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Hyperlocal weather-event detection and verification time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270248" y="117043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4489704" y="1261872"/>
            <a:ext cx="32186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400" b="1" i="0">
                <a:solidFill>
                  <a:srgbClr val="A8465A"/>
                </a:solidFill>
                <a:latin typeface="Arial"/>
              </a:rPr>
              <a:t>SCATTERED → UNIFIED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489704" y="153619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One verified national feed instead of thousands of disconnected posts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037575" y="117043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8257031" y="1261872"/>
            <a:ext cx="32186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400" b="1" i="0">
                <a:solidFill>
                  <a:srgbClr val="3F7A5C"/>
                </a:solidFill>
                <a:latin typeface="Arial"/>
              </a:rPr>
              <a:t>REACTIVE → PROACTIVE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257031" y="153619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00" b="0" i="0">
                <a:solidFill>
                  <a:srgbClr val="2B3852"/>
                </a:solidFill>
                <a:latin typeface="Calibri"/>
              </a:rPr>
              <a:t>Earlier hyperlocal signal enables faster disaster-response decisions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502920" y="2084831"/>
            <a:ext cx="3547872" cy="184708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 w="12700">
            <a:solidFill>
              <a:srgbClr val="0E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86968" y="2231136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0E6E8C"/>
                </a:solidFill>
                <a:latin typeface="Arial"/>
              </a:rPr>
              <a:t>DISASTER MANAGEMENT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85800" y="2523744"/>
            <a:ext cx="31821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Faster situational awareness for NDMA / SDMA during floods &amp; cyclones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Hyperlocal ground-truth complements IMD's sensor &amp; radar network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Supports early-warning escalation with evidence, not just chatter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Verified map gives field teams a shared picture to act on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4160520" y="2084831"/>
            <a:ext cx="3547872" cy="1847088"/>
          </a:xfrm>
          <a:prstGeom prst="roundRect">
            <a:avLst>
              <a:gd name="adj" fmla="val 12000"/>
            </a:avLst>
          </a:prstGeom>
          <a:solidFill>
            <a:srgbClr val="F4EEE3"/>
          </a:solidFill>
          <a:ln w="12700">
            <a:solidFill>
              <a:srgbClr val="B879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4544568" y="2231136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B8791E"/>
                </a:solidFill>
                <a:latin typeface="Arial"/>
              </a:rPr>
              <a:t>ECONOMIC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4343400" y="2523744"/>
            <a:ext cx="31821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Faster, better-targeted response lowers disaster-relief costs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Protects agriculture, transport &amp; logistics with hyperlocal alerts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Verification reduces costly false-alarm mobilisation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Insurers and utilities get timestamped, location-tagged evidence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502920" y="4041648"/>
            <a:ext cx="3547872" cy="1847088"/>
          </a:xfrm>
          <a:prstGeom prst="roundRect">
            <a:avLst>
              <a:gd name="adj" fmla="val 12000"/>
            </a:avLst>
          </a:prstGeom>
          <a:solidFill>
            <a:srgbClr val="F3EAEC"/>
          </a:solidFill>
          <a:ln w="12700">
            <a:solidFill>
              <a:srgbClr val="A84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886968" y="418795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A8465A"/>
                </a:solidFill>
                <a:latin typeface="Arial"/>
              </a:rPr>
              <a:t>SOCIAL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85800" y="4480560"/>
            <a:ext cx="31821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Citizens become active contributors to national weather intelligence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Visible verification status builds public trust in reports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Multilingual design widens who can participate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Vulnerable wards get warnings that name their own locality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4160520" y="4041648"/>
            <a:ext cx="3547872" cy="1847088"/>
          </a:xfrm>
          <a:prstGeom prst="roundRect">
            <a:avLst>
              <a:gd name="adj" fmla="val 12000"/>
            </a:avLst>
          </a:prstGeom>
          <a:solidFill>
            <a:srgbClr val="EAF0EC"/>
          </a:solidFill>
          <a:ln w="12700">
            <a:solidFill>
              <a:srgbClr val="3F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4544568" y="4187952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3F7A5C"/>
                </a:solidFill>
                <a:latin typeface="Arial"/>
              </a:rPr>
              <a:t>GOVERNANCE &amp; DATA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4343400" y="4480560"/>
            <a:ext cx="31821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Centralized, queryable weather-event history for research &amp; policy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Open architecture integrates with other e-governance platforms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Full audit trail via the admin verification panel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2B3852"/>
                </a:solidFill>
                <a:latin typeface="Calibri"/>
              </a:rPr>
              <a:t>•  Evidence base for climate-resilience planning and budgeting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7863840" y="2084831"/>
            <a:ext cx="3831336" cy="3803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77" name="TextBox 17476"/>
          <p:cNvSpPr txBox="1"/>
          <p:nvPr/>
        </p:nvSpPr>
        <p:spPr>
          <a:xfrm>
            <a:off x="8046720" y="221284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1" i="0" spc="100">
                <a:solidFill>
                  <a:srgbClr val="0E1B3D"/>
                </a:solidFill>
                <a:latin typeface="Arial"/>
              </a:rPr>
              <a:t>WHO THE PLATFORM SERVES</a:t>
            </a:r>
          </a:p>
        </p:txBody>
      </p:sp>
      <p:graphicFrame>
        <p:nvGraphicFramePr>
          <p:cNvPr id="17442" name="Chart 0">
            <a:extLst>
              <a:ext uri="{FF2B5EF4-FFF2-40B4-BE49-F238E27FC236}">
                <a16:creationId xmlns:a16="http://schemas.microsoft.com/office/drawing/2014/main" id="{BAD7F33E-DA7A-8A5A-86EA-A0A07A1A7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386642"/>
              </p:ext>
            </p:extLst>
          </p:nvPr>
        </p:nvGraphicFramePr>
        <p:xfrm>
          <a:off x="7973568" y="2487168"/>
          <a:ext cx="36118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478" name="TextBox 17477"/>
          <p:cNvSpPr txBox="1"/>
          <p:nvPr/>
        </p:nvSpPr>
        <p:spPr>
          <a:xfrm>
            <a:off x="8046720" y="5193792"/>
            <a:ext cx="347472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00" b="0" i="1">
                <a:solidFill>
                  <a:srgbClr val="4E5D78"/>
                </a:solidFill>
                <a:latin typeface="Calibri"/>
              </a:rPr>
              <a:t>Verified national weather-event data feeds every layer of India's disaster-response ecosystem — from IMD and NDMA down to the ward volunteer.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502920" y="5961888"/>
            <a:ext cx="7351775" cy="329184"/>
          </a:xfrm>
          <a:prstGeom prst="roundRect">
            <a:avLst>
              <a:gd name="adj" fmla="val 12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80" name="TextBox 17479"/>
          <p:cNvSpPr txBox="1"/>
          <p:nvPr/>
        </p:nvSpPr>
        <p:spPr>
          <a:xfrm>
            <a:off x="640080" y="6016752"/>
            <a:ext cx="707745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 i="0" spc="50">
                <a:solidFill>
                  <a:srgbClr val="FFFFFF"/>
                </a:solidFill>
                <a:latin typeface="Calibri"/>
              </a:rPr>
              <a:t>FASTER DECISIONS  |  LOWER RELIEF COST  |  HIGHER PUBLIC TRUST  |  A NATIONAL EVIDENCE BASE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17459">
            <a:extLst>
              <a:ext uri="{FF2B5EF4-FFF2-40B4-BE49-F238E27FC236}">
                <a16:creationId xmlns:a16="http://schemas.microsoft.com/office/drawing/2014/main" id="{1F8969F1-E29B-D008-6B9A-A5734B2DE374}"/>
              </a:ext>
            </a:extLst>
          </p:cNvPr>
          <p:cNvSpPr/>
          <p:nvPr/>
        </p:nvSpPr>
        <p:spPr>
          <a:xfrm>
            <a:off x="4532922" y="965278"/>
            <a:ext cx="7125677" cy="4786298"/>
          </a:xfrm>
          <a:prstGeom prst="roundRect">
            <a:avLst>
              <a:gd name="adj" fmla="val 12000"/>
            </a:avLst>
          </a:prstGeom>
          <a:solidFill>
            <a:srgbClr val="E4F5FB"/>
          </a:solidFill>
          <a:ln w="12700">
            <a:solidFill>
              <a:srgbClr val="008C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2599267" y="-1"/>
            <a:ext cx="10550675" cy="67874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-1" y="6355080"/>
            <a:ext cx="13149943" cy="5029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6446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@SIH Idea submission —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94560" cy="1036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84048"/>
            <a:ext cx="1508760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95000"/>
              </a:lnSpc>
            </a:pPr>
            <a:r>
              <a:rPr lang="en-US" sz="1100" b="1" dirty="0">
                <a:solidFill>
                  <a:srgbClr val="000000"/>
                </a:solidFill>
                <a:latin typeface="Arial"/>
              </a:rPr>
              <a:t>CropX Protocol</a:t>
            </a: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229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4E5D78"/>
                </a:solidFill>
                <a:latin typeface="Calibri"/>
              </a:rPr>
              <a:t>Data sources, platform documentation and the research behind 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4958" y="1215146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IMD WEATHER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1376" y="1405862"/>
            <a:ext cx="329184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India Meteorological Department — official observations, nowcasts and warnings.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Used to cross-check citizen reports and anchor trust scoring.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Warning bulletins polled on a fixed schedule and cached.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mausam.imd.gov.in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0054" y="2690005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DATA.GOV.IN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7083" y="2910532"/>
            <a:ext cx="3359757" cy="960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Open Government Data Platform India — weather, rainfall and disaster datasets.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Supplies historical baselines for event classification.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Open </a:t>
            </a:r>
            <a:r>
              <a:rPr sz="950" b="0" i="0" dirty="0" err="1">
                <a:solidFill>
                  <a:srgbClr val="2B3852"/>
                </a:solidFill>
                <a:latin typeface="Calibri"/>
              </a:rPr>
              <a:t>licence</a:t>
            </a:r>
            <a:r>
              <a:rPr sz="950" b="0" i="0" dirty="0">
                <a:solidFill>
                  <a:srgbClr val="2B3852"/>
                </a:solidFill>
                <a:latin typeface="Calibri"/>
              </a:rPr>
              <a:t> permits redistribution inside our feed.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data.gov.in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6270" y="1228929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DATABRICKS</a:t>
            </a:r>
            <a:r>
              <a:rPr sz="1100" b="1" i="0" dirty="0">
                <a:solidFill>
                  <a:srgbClr val="E03E62"/>
                </a:solidFill>
                <a:latin typeface="Arial"/>
              </a:rPr>
              <a:t> </a:t>
            </a: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LAKEHOUSE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0854" y="1439554"/>
            <a:ext cx="3252214" cy="960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Delta Lake + Spark Structured Streaming + </a:t>
            </a:r>
            <a:r>
              <a:rPr sz="950" b="0" i="0" dirty="0" err="1">
                <a:solidFill>
                  <a:srgbClr val="2B3852"/>
                </a:solidFill>
                <a:latin typeface="Calibri"/>
              </a:rPr>
              <a:t>MLflow</a:t>
            </a:r>
            <a:r>
              <a:rPr sz="950" b="0" i="0" dirty="0">
                <a:solidFill>
                  <a:srgbClr val="2B3852"/>
                </a:solidFill>
                <a:latin typeface="Calibri"/>
              </a:rPr>
              <a:t> architecture reference.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Basis for the bronze / silver / gold medallion design.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Delta Live Tables reference for the curated gold layer.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databricks.com  •  delta.io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5497" y="2751380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X API v2 &amp; META GRAPH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3518" y="2966161"/>
            <a:ext cx="329184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Official developer platforms for permitted real-time social ingestion.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Defines rate limits and terms we design ingestion around.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Guides consent, attribution and retention handling.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developer.x.com  •  developers.facebook.com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5497" y="4205859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APACHE KAFKA &amp; POSTGIS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3518" y="4420580"/>
            <a:ext cx="329184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Reference for the real-time streaming bus and spatial query layer.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Guides partitioning, backpressure and geo-index choices.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Spatial indexing reference for ward-level queries.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kafka.apache.org  •  postgis.net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0054" y="4201072"/>
            <a:ext cx="3108960" cy="16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</a:rPr>
              <a:t>NDMA GUIDELINES + 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5624" y="4431207"/>
            <a:ext cx="329184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Disaster-response framing; misinformation-detection literature.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</a:t>
            </a:r>
            <a:r>
              <a:rPr sz="950" b="0" i="0" dirty="0" err="1">
                <a:solidFill>
                  <a:srgbClr val="2B3852"/>
                </a:solidFill>
                <a:latin typeface="Calibri"/>
              </a:rPr>
              <a:t>MinHash</a:t>
            </a:r>
            <a:r>
              <a:rPr sz="950" b="0" i="0" dirty="0">
                <a:solidFill>
                  <a:srgbClr val="2B3852"/>
                </a:solidFill>
                <a:latin typeface="Calibri"/>
              </a:rPr>
              <a:t>/LSH near-duplicate methods; Leaflet / OpenStreetMap mapping.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Framing for escalation thresholds and alert wording.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0" i="0" dirty="0">
                <a:solidFill>
                  <a:srgbClr val="2B3852"/>
                </a:solidFill>
                <a:latin typeface="Calibri"/>
              </a:rPr>
              <a:t>•  ndma.gov.in  •  ACM Computing Surveys  •  IEEE  •  leafletjs.com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93151" y="5790646"/>
            <a:ext cx="7636626" cy="420624"/>
          </a:xfrm>
          <a:prstGeom prst="roundRect">
            <a:avLst>
              <a:gd name="adj" fmla="val 12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16504" y="588322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100" b="1" i="0" spc="50" dirty="0">
                <a:solidFill>
                  <a:srgbClr val="FFFFFF"/>
                </a:solidFill>
                <a:latin typeface="Calibri"/>
              </a:rPr>
              <a:t>ALL SOURCES ARE PUBLIC OR OFFICIALLY LICENSED  —  NO SCRAPED OR UNPERMITTED DATA IN THE PIPELINE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C48E1FF-2E31-87BF-94D0-FAD275F53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24"/>
          <a:stretch>
            <a:fillRect/>
          </a:stretch>
        </p:blipFill>
        <p:spPr>
          <a:xfrm>
            <a:off x="70732" y="1448256"/>
            <a:ext cx="5191061" cy="261854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F9C5189-0B39-E35D-D9CC-279E2C118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07" t="1096" r="7301" b="45024"/>
          <a:stretch>
            <a:fillRect/>
          </a:stretch>
        </p:blipFill>
        <p:spPr>
          <a:xfrm>
            <a:off x="8358" y="4264335"/>
            <a:ext cx="5315808" cy="190878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84542AA-B434-723D-40EC-4A658CC37457}"/>
              </a:ext>
            </a:extLst>
          </p:cNvPr>
          <p:cNvSpPr txBox="1"/>
          <p:nvPr/>
        </p:nvSpPr>
        <p:spPr>
          <a:xfrm>
            <a:off x="571404" y="1130887"/>
            <a:ext cx="3648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Interface of prototype</a:t>
            </a:r>
            <a:endParaRPr lang="en-IN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8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6E8C"/>
      </a:accent1>
      <a:accent2>
        <a:srgbClr val="A8465A"/>
      </a:accent2>
      <a:accent3>
        <a:srgbClr val="3F7A5C"/>
      </a:accent3>
      <a:accent4>
        <a:srgbClr val="4A5578"/>
      </a:accent4>
      <a:accent5>
        <a:srgbClr val="5B93A6"/>
      </a:accent5>
      <a:accent6>
        <a:srgbClr val="B8791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6E8C"/>
      </a:accent1>
      <a:accent2>
        <a:srgbClr val="A8465A"/>
      </a:accent2>
      <a:accent3>
        <a:srgbClr val="3F7A5C"/>
      </a:accent3>
      <a:accent4>
        <a:srgbClr val="4A5578"/>
      </a:accent4>
      <a:accent5>
        <a:srgbClr val="5B93A6"/>
      </a:accent5>
      <a:accent6>
        <a:srgbClr val="B8791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7531</TotalTime>
  <Words>1722</Words>
  <Application>Microsoft Office PowerPoint</Application>
  <PresentationFormat>Widescreen</PresentationFormat>
  <Paragraphs>242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Hafiz Baig</cp:lastModifiedBy>
  <cp:revision>149</cp:revision>
  <dcterms:created xsi:type="dcterms:W3CDTF">2013-12-12T18:46:50Z</dcterms:created>
  <dcterms:modified xsi:type="dcterms:W3CDTF">2026-10-04T12:53:49Z</dcterms:modified>
  <cp:category/>
</cp:coreProperties>
</file>